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Oturum Sayisi</c:v>
                </c:pt>
              </c:strCache>
            </c:strRef>
          </c:tx>
          <c:dPt>
            <c:idx val="0"/>
            <c:spPr>
              <a:solidFill>
                <a:srgbClr val="CADCFC"/>
              </a:solidFill>
            </c:spPr>
          </c:dPt>
          <c:dPt>
            <c:idx val="1"/>
            <c:spPr>
              <a:solidFill>
                <a:srgbClr val="ADBDE2"/>
              </a:solidFill>
            </c:spPr>
          </c:dPt>
          <c:dPt>
            <c:idx val="2"/>
            <c:spPr>
              <a:solidFill>
                <a:srgbClr val="909FC8"/>
              </a:solidFill>
            </c:spPr>
          </c:dPt>
          <c:dPt>
            <c:idx val="3"/>
            <c:spPr>
              <a:solidFill>
                <a:srgbClr val="7481AE"/>
              </a:solidFill>
            </c:spPr>
          </c:dPt>
          <c:dPt>
            <c:idx val="4"/>
            <c:spPr>
              <a:solidFill>
                <a:srgbClr val="576394"/>
              </a:solidFill>
            </c:spPr>
          </c:dPt>
          <c:dPt>
            <c:idx val="5"/>
            <c:spPr>
              <a:solidFill>
                <a:srgbClr val="3A457A"/>
              </a:solidFill>
            </c:spPr>
          </c:dPt>
          <c:dPt>
            <c:idx val="6"/>
            <c:spPr>
              <a:solidFill>
                <a:srgbClr val="1E2761"/>
              </a:solidFill>
            </c:spPr>
          </c:dPt>
          <c:cat>
            <c:strRef>
              <c:f>Sheet1!$A$2:$A$8</c:f>
              <c:strCache>
                <c:ptCount val="7"/>
                <c:pt idx="0">
                  <c:v>Purchase</c:v>
                </c:pt>
                <c:pt idx="1">
                  <c:v>Add Payment Info</c:v>
                </c:pt>
                <c:pt idx="2">
                  <c:v>Add Shipping Info</c:v>
                </c:pt>
                <c:pt idx="3">
                  <c:v>Begin Checkout</c:v>
                </c:pt>
                <c:pt idx="4">
                  <c:v>Add To Cart</c:v>
                </c:pt>
                <c:pt idx="5">
                  <c:v>View Item</c:v>
                </c:pt>
                <c:pt idx="6">
                  <c:v>Visits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4848</c:v>
                </c:pt>
                <c:pt idx="1">
                  <c:v>6815</c:v>
                </c:pt>
                <c:pt idx="2">
                  <c:v>11105</c:v>
                </c:pt>
                <c:pt idx="3">
                  <c:v>11106</c:v>
                </c:pt>
                <c:pt idx="4">
                  <c:v>15188</c:v>
                </c:pt>
                <c:pt idx="5">
                  <c:v>77020</c:v>
                </c:pt>
                <c:pt idx="6">
                  <c:v>354857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inorTickMark val="none"/>
        <c:tickLblPos val="nextTo"/>
        <c:spPr>
          <a:ln>
            <a:solidFill>
              <a:srgbClr val="E3E7F2"/>
            </a:solidFill>
          </a:ln>
        </c:spPr>
        <c:txPr>
          <a:bodyPr/>
          <a:lstStyle/>
          <a:p>
            <a:pPr>
              <a:defRPr sz="1300">
                <a:solidFill>
                  <a:srgbClr val="1E276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3F519E"/>
              </a:solidFill>
            </c:spPr>
          </c:dPt>
          <c:dPt>
            <c:idx val="2"/>
            <c:spPr>
              <a:solidFill>
                <a:srgbClr val="CADCFC"/>
              </a:solidFill>
            </c:spPr>
          </c:dPt>
          <c:cat>
            <c:strRef>
              <c:f>Sheet1!$A$2:$A$4</c:f>
              <c:strCache>
                <c:ptCount val="3"/>
                <c:pt idx="0">
                  <c:v>Mobil</c:v>
                </c:pt>
                <c:pt idx="1">
                  <c:v>Masaustu</c:v>
                </c:pt>
                <c:pt idx="2">
                  <c:v>Tablet / Diger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141079</c:v>
                </c:pt>
                <c:pt idx="1">
                  <c:v>205899</c:v>
                </c:pt>
                <c:pt idx="2">
                  <c:v>7879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E2761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3F519E"/>
              </a:solidFill>
            </c:spPr>
          </c:dPt>
          <c:dPt>
            <c:idx val="2"/>
            <c:spPr>
              <a:solidFill>
                <a:srgbClr val="7C8FD0"/>
              </a:solidFill>
            </c:spPr>
          </c:dPt>
          <c:dPt>
            <c:idx val="3"/>
            <c:spPr>
              <a:solidFill>
                <a:srgbClr val="CADCFC"/>
              </a:solidFill>
            </c:spPr>
          </c:dPt>
          <c:dPt>
            <c:idx val="4"/>
            <c:spPr>
              <a:solidFill>
                <a:srgbClr val="AFC4EE"/>
              </a:solidFill>
            </c:spPr>
          </c:dPt>
          <c:cat>
            <c:strRef>
              <c:f>Sheet1!$A$2:$A$6</c:f>
              <c:strCache>
                <c:ptCount val="5"/>
                <c:pt idx="0">
                  <c:v>google</c:v>
                </c:pt>
                <c:pt idx="1">
                  <c:v>(direct)</c:v>
                </c:pt>
                <c:pt idx="2">
                  <c:v>(data deleted)</c:v>
                </c:pt>
                <c:pt idx="3">
                  <c:v>shop.googlemerchandisestore.com</c:v>
                </c:pt>
                <c:pt idx="4">
                  <c:v>&lt;Other&gt;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104831</c:v>
                </c:pt>
                <c:pt idx="1">
                  <c:v>79650</c:v>
                </c:pt>
                <c:pt idx="2">
                  <c:v>50064</c:v>
                </c:pt>
                <c:pt idx="3">
                  <c:v>46521</c:v>
                </c:pt>
                <c:pt idx="4">
                  <c:v>81099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E2761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Ziyaret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dPt>
            <c:idx val="4"/>
            <c:spPr>
              <a:solidFill>
                <a:srgbClr val="1E2761"/>
              </a:solidFill>
            </c:spPr>
          </c:dPt>
          <c:cat>
            <c:strRef>
              <c:f>Sheet1!$A$2:$A$6</c:f>
              <c:strCache>
                <c:ptCount val="5"/>
                <c:pt idx="0">
                  <c:v>/store.html</c:v>
                </c:pt>
                <c:pt idx="1">
                  <c:v>/Apparel/Dino Game Tee</c:v>
                </c:pt>
                <c:pt idx="2">
                  <c:v>/Shop by Brand/YouTube</c:v>
                </c:pt>
                <c:pt idx="3">
                  <c:v>/Apparel</c:v>
                </c:pt>
                <c:pt idx="4">
                  <c:v>/ (Ana Sayfa)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14024</c:v>
                </c:pt>
                <c:pt idx="1">
                  <c:v>18449</c:v>
                </c:pt>
                <c:pt idx="2">
                  <c:v>23445</c:v>
                </c:pt>
                <c:pt idx="3">
                  <c:v>39233</c:v>
                </c:pt>
                <c:pt idx="4">
                  <c:v>153011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inorTickMark val="none"/>
        <c:tickLblPos val="nextTo"/>
        <c:spPr>
          <a:ln>
            <a:solidFill>
              <a:srgbClr val="E3E7F2"/>
            </a:solidFill>
          </a:ln>
        </c:spPr>
        <c:txPr>
          <a:bodyPr/>
          <a:lstStyle/>
          <a:p>
            <a:pPr>
              <a:defRPr sz="1150">
                <a:solidFill>
                  <a:srgbClr val="1E276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 ($)</c:v>
                </c:pt>
              </c:strCache>
            </c:strRef>
          </c:tx>
          <c:spPr>
            <a:ln w="31750">
              <a:solidFill>
                <a:srgbClr val="1E2761"/>
              </a:solidFill>
            </a:ln>
          </c:spPr>
          <c:marker>
            <c:symbol val="circle"/>
            <c:spPr>
              <a:solidFill>
                <a:srgbClr val="FF6B35"/>
              </a:solidFill>
              <a:ln>
                <a:solidFill>
                  <a:srgbClr val="FF6B35"/>
                </a:solidFill>
              </a:ln>
            </c:spPr>
          </c:marker>
          <c:cat>
            <c:strRef>
              <c:f>Sheet1!$A$2:$A$14</c:f>
              <c:strCache>
                <c:ptCount val="13"/>
                <c:pt idx="0">
                  <c:v>02 Kas</c:v>
                </c:pt>
                <c:pt idx="1">
                  <c:v>09 Kas</c:v>
                </c:pt>
                <c:pt idx="2">
                  <c:v>16 Kas</c:v>
                </c:pt>
                <c:pt idx="3">
                  <c:v>23 Kas</c:v>
                </c:pt>
                <c:pt idx="4">
                  <c:v>30 Kas</c:v>
                </c:pt>
                <c:pt idx="5">
                  <c:v>07 Ara</c:v>
                </c:pt>
                <c:pt idx="6">
                  <c:v>14 Ara</c:v>
                </c:pt>
                <c:pt idx="7">
                  <c:v>21 Ara</c:v>
                </c:pt>
                <c:pt idx="8">
                  <c:v>28 Ara</c:v>
                </c:pt>
                <c:pt idx="9">
                  <c:v>04 Oca</c:v>
                </c:pt>
                <c:pt idx="10">
                  <c:v>11 Oca</c:v>
                </c:pt>
                <c:pt idx="11">
                  <c:v>18 Oca</c:v>
                </c:pt>
                <c:pt idx="12">
                  <c:v>25 Oca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21820</c:v>
                </c:pt>
                <c:pt idx="1">
                  <c:v>23624</c:v>
                </c:pt>
                <c:pt idx="2">
                  <c:v>38156</c:v>
                </c:pt>
                <c:pt idx="3">
                  <c:v>47897</c:v>
                </c:pt>
                <c:pt idx="4">
                  <c:v>42948</c:v>
                </c:pt>
                <c:pt idx="5">
                  <c:v>59865</c:v>
                </c:pt>
                <c:pt idx="6">
                  <c:v>47302</c:v>
                </c:pt>
                <c:pt idx="7">
                  <c:v>14716</c:v>
                </c:pt>
                <c:pt idx="8">
                  <c:v>10267</c:v>
                </c:pt>
                <c:pt idx="9">
                  <c:v>9465</c:v>
                </c:pt>
                <c:pt idx="10">
                  <c:v>13188</c:v>
                </c:pt>
                <c:pt idx="11">
                  <c:v>26598</c:v>
                </c:pt>
                <c:pt idx="12">
                  <c:v>5546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inorTickMark val="none"/>
        <c:tickLblPos val="nextTo"/>
        <c:spPr>
          <a:ln>
            <a:solidFill>
              <a:srgbClr val="E3E7F2"/>
            </a:solidFill>
          </a:ln>
        </c:spPr>
        <c:txPr>
          <a:bodyPr/>
          <a:lstStyle/>
          <a:p>
            <a:pPr>
              <a:defRPr sz="950">
                <a:solidFill>
                  <a:srgbClr val="1E276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235440" y="-640080"/>
            <a:ext cx="3291840" cy="3291840"/>
          </a:xfrm>
          <a:prstGeom prst="ellipse">
            <a:avLst/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4937760"/>
            <a:ext cx="2377440" cy="2377440"/>
          </a:xfrm>
          <a:prstGeom prst="ellipse">
            <a:avLst/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31620" y="1714500"/>
            <a:ext cx="1234440" cy="12344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1852574" y="2035454"/>
            <a:ext cx="592531" cy="592531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E-Ticaret Donusum Hunisi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977639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GA4 &amp; BigQuery Verisiyle Session Bazli Huni Analizi ve Tableau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989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Esma Kasram   |   Veri Analitigi Projesi - Proje 1: E-Ticaret Hunisi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8819" y="661659"/>
            <a:ext cx="249448" cy="249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1159" y="733999"/>
            <a:ext cx="104768" cy="10476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8176" y="48463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Proje Amaci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Pazarlama ekibinin cevrimici magazadaki kullanici yolculugunu uctan uca izleyebilecegi, interaktif bir donusum (funnel) gosterge tablosu tasarlamak.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Veri kaynagi: BigQuery uzerindeki genel GA4 ornek e-ticaret veri kumesi (Google Merchandise Store).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Hedef kullanici: pazarlama departmani yoneticileri.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417320"/>
            <a:ext cx="5074920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84264" y="1600200"/>
            <a:ext cx="621792" cy="621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61898" y="1925397"/>
            <a:ext cx="65005" cy="12871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62657" y="1839589"/>
            <a:ext cx="65005" cy="21451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63415" y="1768083"/>
            <a:ext cx="65005" cy="28602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52704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Ziyaret / Siparis / Satis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90195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A99"/>
                </a:solidFill>
                <a:latin typeface="Calibri"/>
              </a:rPr>
              <a:t>Ana KPI metrikleri tek bakista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587752"/>
            <a:ext cx="5074920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84264" y="2770632"/>
            <a:ext cx="621792" cy="621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10800000">
            <a:off x="6852147" y="2938515"/>
            <a:ext cx="286024" cy="28602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97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7 Adimli Huni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07238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A99"/>
                </a:solidFill>
                <a:latin typeface="Calibri"/>
              </a:rPr>
              <a:t>Oturumdan satin almaya kadar tum yolculuk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758184"/>
            <a:ext cx="5074920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84264" y="3941064"/>
            <a:ext cx="621792" cy="621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2147" y="4144700"/>
            <a:ext cx="286024" cy="37183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0771" y="4233368"/>
            <a:ext cx="188776" cy="37183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396" y="4322035"/>
            <a:ext cx="91527" cy="37183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38679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8 Filtre Kriteri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242816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A99"/>
                </a:solidFill>
                <a:latin typeface="Calibri"/>
              </a:rPr>
              <a:t>Segment, cihaz ve tarihe gore analiz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8731" y="661659"/>
            <a:ext cx="169624" cy="2494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8176" y="48463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Metodoloji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A99"/>
                </a:solidFill>
                <a:latin typeface="Calibri"/>
              </a:rPr>
              <a:t>Ham GA4 event verisinden interaktif dashboard'a: 4 adimli veri isleme hatti.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3957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" y="250545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587752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BigQuery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85032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GA4 genel veri kumesine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SQL ile erisim</a:t>
            </a:r>
          </a:p>
        </p:txBody>
      </p:sp>
      <p:sp>
        <p:nvSpPr>
          <p:cNvPr id="11" name="Chevron 10"/>
          <p:cNvSpPr/>
          <p:nvPr/>
        </p:nvSpPr>
        <p:spPr>
          <a:xfrm>
            <a:off x="3072384" y="3209544"/>
            <a:ext cx="310896" cy="256032"/>
          </a:xfrm>
          <a:prstGeom prst="chevron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2331720"/>
            <a:ext cx="23957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3592" y="250545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587752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29184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Session Tablosu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3685032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UNNEST + CASE WHEN ile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session bazinda ozet</a:t>
            </a:r>
          </a:p>
        </p:txBody>
      </p:sp>
      <p:sp>
        <p:nvSpPr>
          <p:cNvPr id="17" name="Chevron 16"/>
          <p:cNvSpPr/>
          <p:nvPr/>
        </p:nvSpPr>
        <p:spPr>
          <a:xfrm>
            <a:off x="5852160" y="3209544"/>
            <a:ext cx="310896" cy="256032"/>
          </a:xfrm>
          <a:prstGeom prst="chevron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2331720"/>
            <a:ext cx="23957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250545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587752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9184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Tableau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685032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Tek veri kaynagi;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KPI + Huni + 4 grafik</a:t>
            </a:r>
          </a:p>
        </p:txBody>
      </p:sp>
      <p:sp>
        <p:nvSpPr>
          <p:cNvPr id="23" name="Chevron 22"/>
          <p:cNvSpPr/>
          <p:nvPr/>
        </p:nvSpPr>
        <p:spPr>
          <a:xfrm>
            <a:off x="8631936" y="3209544"/>
            <a:ext cx="310896" cy="256032"/>
          </a:xfrm>
          <a:prstGeom prst="chevron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9408" y="2331720"/>
            <a:ext cx="2395728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53144" y="250545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2587752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29184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Interaktif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3685032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8 filtre ile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uctan uca kesif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Session Tanimlama Formulu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85232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A99"/>
                </a:solidFill>
                <a:latin typeface="Consolas"/>
              </a:rPr>
              <a:t>session_id = CONCAT(user_pseudo_id, '-', event_params[ga_session_id])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7A99"/>
                </a:solidFill>
                <a:latin typeface="Consolas"/>
              </a:rPr>
              <a:t>Landing page: session icindeki en erken timestamp'e sahip page_view (ARRAY_AGG + ORDER BY event_timestamp)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323" y="798856"/>
            <a:ext cx="56692" cy="112251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5197" y="724021"/>
            <a:ext cx="56692" cy="18708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3071" y="661659"/>
            <a:ext cx="56692" cy="2494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176" y="48463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Dashboard KPI Ozeti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434" y="2331720"/>
            <a:ext cx="2084831" cy="2468880"/>
          </a:xfrm>
          <a:prstGeom prst="roundRect">
            <a:avLst>
              <a:gd name="adj" fmla="val 10000"/>
            </a:avLst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2874" y="3017520"/>
            <a:ext cx="19019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354.857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874" y="4023360"/>
            <a:ext cx="19019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Ziyaret (Visits)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7433" y="2331720"/>
            <a:ext cx="2084831" cy="2468880"/>
          </a:xfrm>
          <a:prstGeom prst="roundRect">
            <a:avLst>
              <a:gd name="adj" fmla="val 10000"/>
            </a:avLst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8873" y="3017520"/>
            <a:ext cx="19019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4.848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8873" y="4023360"/>
            <a:ext cx="19019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Siparis (Orders)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3432" y="2331720"/>
            <a:ext cx="2084831" cy="2468880"/>
          </a:xfrm>
          <a:prstGeom prst="roundRect">
            <a:avLst>
              <a:gd name="adj" fmla="val 10000"/>
            </a:avLst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4872" y="3017520"/>
            <a:ext cx="19019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$362.165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4872" y="4023360"/>
            <a:ext cx="19019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Gelir (Revenue)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9431" y="2331720"/>
            <a:ext cx="2084831" cy="2468880"/>
          </a:xfrm>
          <a:prstGeom prst="roundRect">
            <a:avLst>
              <a:gd name="adj" fmla="val 10000"/>
            </a:avLst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0871" y="3017520"/>
            <a:ext cx="19019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%1,37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0871" y="4023360"/>
            <a:ext cx="19019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Donusum Orani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5430" y="2331720"/>
            <a:ext cx="2084831" cy="2468880"/>
          </a:xfrm>
          <a:prstGeom prst="roundRect">
            <a:avLst>
              <a:gd name="adj" fmla="val 10000"/>
            </a:avLst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6870" y="3017520"/>
            <a:ext cx="190195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$74,70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6870" y="4023360"/>
            <a:ext cx="19019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Ort. Siparis Degeri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Tum KPI'lar; oturum baslangic zamani, landing page, kaynak/mecra/kampanya ve cihaz filtreleriyle birlikte guncellenir.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10800000">
            <a:off x="798819" y="615939"/>
            <a:ext cx="249448" cy="249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8176" y="43891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Huni Analizi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685800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417320"/>
            <a:ext cx="379476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0" y="1691640"/>
            <a:ext cx="548640" cy="548640"/>
          </a:xfrm>
          <a:prstGeom prst="ellipse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 rot="20400000">
            <a:off x="8183880" y="1905609"/>
            <a:ext cx="274320" cy="120700"/>
          </a:xfrm>
          <a:prstGeom prst="chevron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7373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En Buyuk Kayip Noktasi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33172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6B35"/>
                </a:solidFill>
                <a:latin typeface="Cambria"/>
              </a:rPr>
              <a:t>-%80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108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View Item -&gt; Add to Cart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749039"/>
            <a:ext cx="3794760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Diger Gozlemler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34340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2761"/>
                </a:solidFill>
                <a:latin typeface="Calibri"/>
              </a:rPr>
              <a:t>- Begin Checkout -&gt; Shipping Info: kayip yok (%99,9 devam)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2761"/>
                </a:solidFill>
                <a:latin typeface="Calibri"/>
              </a:rPr>
              <a:t>- Shipping Info -&gt; Payment Info arasi %39 dusus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2761"/>
                </a:solidFill>
                <a:latin typeface="Calibri"/>
              </a:rPr>
              <a:t>- Genel donusum orani: %1,37 (354.857 ziyaretten 4.848 siparis)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798819" y="615939"/>
            <a:ext cx="249448" cy="249448"/>
          </a:xfrm>
          <a:prstGeom prst="pie">
            <a:avLst>
              <a:gd name="adj1" fmla="val 0"/>
              <a:gd name="adj2" fmla="val 2700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8176" y="43891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Segment Analizi: Cihaz ve Kaynak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Ziyaret - Cihaz Kategorisi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53949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Gelir - Trafik Kaynagi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72200" y="1783080"/>
          <a:ext cx="539496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 rot="20400000">
            <a:off x="798819" y="685785"/>
            <a:ext cx="249448" cy="109757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8176" y="43891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Landing Page ve Zaman Trendi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En Cok Giris Yapilan 5 Sayfa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51206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13258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Haftalik Satis Trendi (1 Kas 2020 - 31 Oca 2021)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72200" y="1737360"/>
          <a:ext cx="53949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5166360"/>
            <a:ext cx="53949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E2761"/>
                </a:solidFill>
                <a:latin typeface="Calibri"/>
              </a:rPr>
              <a:t>Zirve: 7-13 Aralik haftasi - $59.865 satis, 832 siparis (tatil sezonu alisveris yogunlugu)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819" y="647120"/>
            <a:ext cx="249448" cy="32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26" y="724449"/>
            <a:ext cx="164635" cy="32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3632" y="801778"/>
            <a:ext cx="79823" cy="32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176" y="43891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Interaktif Filtreler ve Tasarim Ilkeleri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8 Filtre Kriteri</a:t>
            </a:r>
          </a:p>
        </p:txBody>
      </p:sp>
      <p:sp>
        <p:nvSpPr>
          <p:cNvPr id="8" name="Oval 7"/>
          <p:cNvSpPr/>
          <p:nvPr/>
        </p:nvSpPr>
        <p:spPr>
          <a:xfrm>
            <a:off x="768096" y="1892807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7451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Oturum baslangic zamani (tarih araligi)</a:t>
            </a:r>
          </a:p>
        </p:txBody>
      </p:sp>
      <p:sp>
        <p:nvSpPr>
          <p:cNvPr id="10" name="Oval 9"/>
          <p:cNvSpPr/>
          <p:nvPr/>
        </p:nvSpPr>
        <p:spPr>
          <a:xfrm>
            <a:off x="768096" y="2459735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4144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Oturum acilis sayfasi (landing page)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" y="3026663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083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Kaynak / Mecra / Kampanya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" y="3593591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575303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Cihaz kategorisi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" y="4160519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42231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Cihazin dili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" y="4727447"/>
            <a:ext cx="201168" cy="20116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0915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Cihazin isletim sistemi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Gorsellestirme Ilkeleri (Modul 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84247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5 Saniye Kurali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13431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Kullanici ilk 5 saniyede ana metrikleri gorebilmeli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898647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008375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Onemli Bilginin Yeri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59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KPI'lar ve huni ust kisimda, ayrintilar altta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22775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032503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Metrik ve Etiket Gosterimi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61687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Her grafikte net sayisal etiketler, gereksiz eksen yok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946903"/>
            <a:ext cx="53949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056631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Tutarli Renk Semasi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385815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Tek bir lacivert-mavi gradyan tum dashboard'da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5-Point Star 2"/>
          <p:cNvSpPr/>
          <p:nvPr/>
        </p:nvSpPr>
        <p:spPr>
          <a:xfrm>
            <a:off x="798819" y="615939"/>
            <a:ext cx="249448" cy="249448"/>
          </a:xfrm>
          <a:prstGeom prst="star5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8176" y="438912"/>
            <a:ext cx="96012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Bulgular ve Oneriler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Temel Bulgular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21208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47671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E2761"/>
                </a:solidFill>
                <a:latin typeface="Calibri"/>
              </a:rPr>
              <a:t>Ziyaretcilerin sadece %21.7'si bir urun detayina bakiyor; bunlarin da %80'i sepete eklemeden ayriliyor.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15767"/>
            <a:ext cx="521208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19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E2761"/>
                </a:solidFill>
                <a:latin typeface="Calibri"/>
              </a:rPr>
              <a:t>Mobil (141.079) ziyaret desktop'un (205.899) gerisinde kaliyor ama toplam trafigin onemli bir parcasi.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57015"/>
            <a:ext cx="521208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0167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E2761"/>
                </a:solidFill>
                <a:latin typeface="Calibri"/>
              </a:rPr>
              <a:t>Google organik + cpc, toplam gelirin %29'unu ($4.831) tek basina getiriyor.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98263"/>
            <a:ext cx="521208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71415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E2761"/>
                </a:solidFill>
                <a:latin typeface="Calibri"/>
              </a:rPr>
              <a:t>Ana sayfa ( / ), tum girislerin %42'sini olusturuyor; urun sayfalarindan dogrudan giris nadir.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39511"/>
            <a:ext cx="521208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12663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1E2761"/>
                </a:solidFill>
                <a:latin typeface="Calibri"/>
              </a:rPr>
              <a:t>Satislar 7-13 Aralik haftasinda zirve yapiyor, tatil sezonu talebini yansitiyor.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Pazarlama Ekibi Icin Oneriler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74519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2029967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93975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011679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Sepete Ekleme Optimizasyonu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377439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Urun sayfalarinda aciliyet/sosyal kanit unsurlari ve retargeting ile %80 kayip azaltilabilir.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91839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3447287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11295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428999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Mobil Deneyim Iyilestirme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94759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Mobil donusum oranini masaustu seviyesine getirecek UX iyilestirmeleri onceliklendirilmeli.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709159"/>
            <a:ext cx="5394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4864607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928615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846319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Sezonsal Kampanya Plani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212079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7A99"/>
                </a:solidFill>
                <a:latin typeface="Calibri"/>
              </a:rPr>
              <a:t>Aralik zirvesinden once (Kasim sonu) stok ve reklam butcesi artirilmali.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640080"/>
            <a:ext cx="2926080" cy="2926080"/>
          </a:xfrm>
          <a:prstGeom prst="ellipse">
            <a:avLst/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5212080"/>
            <a:ext cx="2194560" cy="2194560"/>
          </a:xfrm>
          <a:prstGeom prst="ellipse">
            <a:avLst/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96128" y="1828800"/>
            <a:ext cx="1005840" cy="10058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96128" y="2029968"/>
            <a:ext cx="1005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1E2761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63240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Tesekkurler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Sorulariniza aciğim.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4709160"/>
            <a:ext cx="6858000" cy="868680"/>
          </a:xfrm>
          <a:prstGeom prst="roundRect">
            <a:avLst>
              <a:gd name="adj" fmla="val 20000"/>
            </a:avLst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489204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Canli Dashboard: public.tableau.com/app/profile/esma.kasram/.../Dashboard1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98932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Esma Kasram  |  Veri Analitigi Projesi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